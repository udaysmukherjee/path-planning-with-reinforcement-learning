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5" r:id="rId10"/>
    <p:sldId id="266" r:id="rId11"/>
    <p:sldId id="264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8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7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21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98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5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2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29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0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40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8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E84A0-B512-4975-8EE7-DD9C5668BE60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99A1C-D86B-49A5-B69E-CE2B4F561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7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4378" y="2304004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Reinforcement Learning in Autonomous Robot Path </a:t>
            </a:r>
            <a:b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Obstacle Navigation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042FF-0454-5B69-C54F-5EA8B649AE8F}"/>
              </a:ext>
            </a:extLst>
          </p:cNvPr>
          <p:cNvSpPr txBox="1"/>
          <p:nvPr/>
        </p:nvSpPr>
        <p:spPr>
          <a:xfrm>
            <a:off x="4042612" y="4449692"/>
            <a:ext cx="80050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 Uday Sankar Mukherjee,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Mousumi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Piyali Datta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Engineering &amp; Management, Kolkata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CE198-50CC-7985-DEF5-59F4BA08DA77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BE9D16D-5593-18A4-DBEE-453F26C3D90B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1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79AEBB7-1781-475B-E6E8-BADDAEFCF711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C0FE13-1A8E-3157-6DBF-D610A1F9F6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34"/>
          <a:stretch/>
        </p:blipFill>
        <p:spPr>
          <a:xfrm>
            <a:off x="69436" y="77019"/>
            <a:ext cx="1080328" cy="991361"/>
          </a:xfrm>
          <a:prstGeom prst="rect">
            <a:avLst/>
          </a:prstGeom>
        </p:spPr>
      </p:pic>
      <p:pic>
        <p:nvPicPr>
          <p:cNvPr id="6" name="Picture 2" descr="IEEE Kolkata Section">
            <a:extLst>
              <a:ext uri="{FF2B5EF4-FFF2-40B4-BE49-F238E27FC236}">
                <a16:creationId xmlns:a16="http://schemas.microsoft.com/office/drawing/2014/main" id="{E48A907A-DAC6-162F-49B0-2B496A9D8A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34" r="11709" b="27503"/>
          <a:stretch/>
        </p:blipFill>
        <p:spPr bwMode="auto">
          <a:xfrm>
            <a:off x="10273180" y="77019"/>
            <a:ext cx="1918820" cy="970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em.edu.in/app/themes/iem-group-wp-theme/resources/logo.png">
            <a:extLst>
              <a:ext uri="{FF2B5EF4-FFF2-40B4-BE49-F238E27FC236}">
                <a16:creationId xmlns:a16="http://schemas.microsoft.com/office/drawing/2014/main" id="{3D93742B-3237-8D91-A543-A31D0FE1B3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1" r="5804"/>
          <a:stretch/>
        </p:blipFill>
        <p:spPr bwMode="auto">
          <a:xfrm>
            <a:off x="1239844" y="77019"/>
            <a:ext cx="1154466" cy="97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https://uem.edu.in/app/themes/iem-group-wp-theme/resources/logo.png">
            <a:extLst>
              <a:ext uri="{FF2B5EF4-FFF2-40B4-BE49-F238E27FC236}">
                <a16:creationId xmlns:a16="http://schemas.microsoft.com/office/drawing/2014/main" id="{A1A0AFF5-4C69-D814-DEF4-0F5C4FF45B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" r="3433"/>
          <a:stretch/>
        </p:blipFill>
        <p:spPr bwMode="auto">
          <a:xfrm>
            <a:off x="9073662" y="149049"/>
            <a:ext cx="1199518" cy="80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D118BFA-7CA5-28CE-32D6-B4CB3BCCDCAA}"/>
              </a:ext>
            </a:extLst>
          </p:cNvPr>
          <p:cNvSpPr/>
          <p:nvPr/>
        </p:nvSpPr>
        <p:spPr>
          <a:xfrm>
            <a:off x="3400493" y="135969"/>
            <a:ext cx="540859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002060"/>
                </a:solidFill>
                <a:latin typeface="Arial Black" panose="020B0A04020102020204" pitchFamily="34" charset="0"/>
              </a:rPr>
              <a:t>IEMENTech 2025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A06105-583E-7B6E-24E6-F62874450F23}"/>
              </a:ext>
            </a:extLst>
          </p:cNvPr>
          <p:cNvSpPr/>
          <p:nvPr/>
        </p:nvSpPr>
        <p:spPr>
          <a:xfrm>
            <a:off x="5048278" y="757356"/>
            <a:ext cx="29040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i="1" dirty="0">
                <a:latin typeface="Calisto MT" panose="02040603050505030304" pitchFamily="18" charset="0"/>
              </a:rPr>
              <a:t>31</a:t>
            </a:r>
            <a:r>
              <a:rPr lang="en-US" sz="1600" b="1" i="1" baseline="30000" dirty="0">
                <a:latin typeface="Calisto MT" panose="02040603050505030304" pitchFamily="18" charset="0"/>
              </a:rPr>
              <a:t>st</a:t>
            </a:r>
            <a:r>
              <a:rPr lang="en-US" sz="1600" b="1" i="1" dirty="0">
                <a:latin typeface="Calisto MT" panose="02040603050505030304" pitchFamily="18" charset="0"/>
              </a:rPr>
              <a:t> January – 2</a:t>
            </a:r>
            <a:r>
              <a:rPr lang="en-US" sz="1600" b="1" i="1" baseline="30000" dirty="0">
                <a:latin typeface="Calisto MT" panose="02040603050505030304" pitchFamily="18" charset="0"/>
              </a:rPr>
              <a:t>nd</a:t>
            </a:r>
            <a:r>
              <a:rPr lang="en-US" sz="1600" b="1" i="1" dirty="0">
                <a:latin typeface="Calisto MT" panose="02040603050505030304" pitchFamily="18" charset="0"/>
              </a:rPr>
              <a:t> February 2025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910439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642" y="236788"/>
            <a:ext cx="10515600" cy="1325563"/>
          </a:xfrm>
        </p:spPr>
        <p:txBody>
          <a:bodyPr>
            <a:norm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&amp; Scope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5"/>
          <p:cNvGrpSpPr/>
          <p:nvPr/>
        </p:nvGrpSpPr>
        <p:grpSpPr>
          <a:xfrm>
            <a:off x="8197914" y="899569"/>
            <a:ext cx="3460686" cy="3726478"/>
            <a:chOff x="0" y="0"/>
            <a:chExt cx="1337832" cy="1226694"/>
          </a:xfrm>
        </p:grpSpPr>
        <p:sp>
          <p:nvSpPr>
            <p:cNvPr id="5" name="Freeform 6"/>
            <p:cNvSpPr/>
            <p:nvPr/>
          </p:nvSpPr>
          <p:spPr>
            <a:xfrm>
              <a:off x="0" y="0"/>
              <a:ext cx="1337832" cy="1226694"/>
            </a:xfrm>
            <a:prstGeom prst="rect">
              <a:avLst/>
            </a:prstGeom>
            <a:blipFill>
              <a:blip r:embed="rId2"/>
              <a:stretch>
                <a:fillRect t="-22794" b="-22794"/>
              </a:stretch>
            </a:blipFill>
          </p:spPr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FD598B-2C44-3EEB-1E73-415BE634292E}"/>
              </a:ext>
            </a:extLst>
          </p:cNvPr>
          <p:cNvSpPr>
            <a:spLocks noGrp="1"/>
          </p:cNvSpPr>
          <p:nvPr/>
        </p:nvSpPr>
        <p:spPr>
          <a:xfrm>
            <a:off x="786063" y="1936040"/>
            <a:ext cx="683393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Applications in search and rescue, warehouse logistics, and autonomous vehicles.</a:t>
            </a:r>
          </a:p>
          <a:p>
            <a:pPr marL="0" indent="0">
              <a:buNone/>
            </a:pPr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motion planning struggles in unknown or changing environments.</a:t>
            </a:r>
          </a:p>
          <a:p>
            <a:pPr marL="0" indent="0">
              <a:buNone/>
            </a:pPr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RL-based approaches adapt to dynamic obstacles and environments.</a:t>
            </a:r>
          </a:p>
          <a:p>
            <a:pPr marL="0" indent="0">
              <a:buNone/>
            </a:pPr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Helps improve decision-making in real-time robotic applications.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282DA2A-A4E9-3C69-6BED-D5967AC304A1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1AD0707-CE7B-F8D0-DBBC-797E2E513C90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2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9ED9513-6482-9BE7-5270-B7CDDE715E94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0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/>
          <p:cNvSpPr/>
          <p:nvPr/>
        </p:nvSpPr>
        <p:spPr>
          <a:xfrm>
            <a:off x="4380312" y="3804311"/>
            <a:ext cx="7608726" cy="2081553"/>
          </a:xfrm>
          <a:custGeom>
            <a:avLst/>
            <a:gdLst/>
            <a:ahLst/>
            <a:cxnLst/>
            <a:rect l="l" t="t" r="r" b="b"/>
            <a:pathLst>
              <a:path w="17111047" h="3642961">
                <a:moveTo>
                  <a:pt x="0" y="0"/>
                </a:moveTo>
                <a:lnTo>
                  <a:pt x="17111047" y="0"/>
                </a:lnTo>
                <a:lnTo>
                  <a:pt x="17111047" y="3642961"/>
                </a:lnTo>
                <a:lnTo>
                  <a:pt x="0" y="3642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09" b="-4309"/>
            </a:stretch>
          </a:blipFill>
        </p:spPr>
      </p:sp>
      <p:sp>
        <p:nvSpPr>
          <p:cNvPr id="3" name="TextBox 7"/>
          <p:cNvSpPr txBox="1"/>
          <p:nvPr/>
        </p:nvSpPr>
        <p:spPr>
          <a:xfrm>
            <a:off x="509945" y="576719"/>
            <a:ext cx="10808563" cy="2076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4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Static Obstacle Detection and Planning</a:t>
            </a:r>
          </a:p>
          <a:p>
            <a:pPr algn="l">
              <a:lnSpc>
                <a:spcPts val="3300"/>
              </a:lnSpc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environments with static obstacles (those that do not move or change position), We utilized </a:t>
            </a:r>
            <a:r>
              <a:rPr lang="en-US" sz="22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</a:t>
            </a:r>
            <a:r>
              <a:rPr lang="en-US" sz="2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</a:p>
          <a:p>
            <a:pPr marL="342900" indent="-342900" algn="l">
              <a:lnSpc>
                <a:spcPts val="33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guarantees finding the shortest path in a graph with non-negative edge weights.</a:t>
            </a:r>
          </a:p>
          <a:p>
            <a:pPr marL="342900" indent="-342900" algn="l">
              <a:lnSpc>
                <a:spcPts val="33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a predictable and reliable solution for static environments.</a:t>
            </a:r>
          </a:p>
        </p:txBody>
      </p:sp>
      <p:sp>
        <p:nvSpPr>
          <p:cNvPr id="4" name="Freeform 4"/>
          <p:cNvSpPr/>
          <p:nvPr/>
        </p:nvSpPr>
        <p:spPr>
          <a:xfrm>
            <a:off x="509945" y="2832176"/>
            <a:ext cx="3611366" cy="3510387"/>
          </a:xfrm>
          <a:custGeom>
            <a:avLst/>
            <a:gdLst/>
            <a:ahLst/>
            <a:cxnLst/>
            <a:rect l="l" t="t" r="r" b="b"/>
            <a:pathLst>
              <a:path w="5292456" h="5436075">
                <a:moveTo>
                  <a:pt x="0" y="0"/>
                </a:moveTo>
                <a:lnTo>
                  <a:pt x="5292456" y="0"/>
                </a:lnTo>
                <a:lnTo>
                  <a:pt x="5292456" y="5436075"/>
                </a:lnTo>
                <a:lnTo>
                  <a:pt x="0" y="5436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765" t="-5453" r="-24765" b="-3731"/>
            </a:stretch>
          </a:blipFill>
        </p:spPr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FAA29-D74D-E659-AF32-61F31689DCFB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A1180F-5D82-954F-A807-BA3F3211E050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3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C1EB0F7-A0F4-BE33-EDDD-399C993DD4A2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673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>
            <a:off x="7074819" y="2341720"/>
            <a:ext cx="4475497" cy="4000844"/>
          </a:xfrm>
          <a:custGeom>
            <a:avLst/>
            <a:gdLst/>
            <a:ahLst/>
            <a:cxnLst/>
            <a:rect l="l" t="t" r="r" b="b"/>
            <a:pathLst>
              <a:path w="6229499" h="4967918">
                <a:moveTo>
                  <a:pt x="0" y="0"/>
                </a:moveTo>
                <a:lnTo>
                  <a:pt x="6229499" y="0"/>
                </a:lnTo>
                <a:lnTo>
                  <a:pt x="6229499" y="4967918"/>
                </a:lnTo>
                <a:lnTo>
                  <a:pt x="0" y="4967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l="-27117" t="-4407" r="-25180" b="-10011"/>
            </a:stretch>
          </a:blipFill>
        </p:spPr>
      </p:sp>
      <p:sp>
        <p:nvSpPr>
          <p:cNvPr id="3" name="Rectangle 2"/>
          <p:cNvSpPr/>
          <p:nvPr/>
        </p:nvSpPr>
        <p:spPr>
          <a:xfrm>
            <a:off x="492274" y="500062"/>
            <a:ext cx="11252051" cy="1841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A-Star Algorithm</a:t>
            </a:r>
          </a:p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A* is an improvement over </a:t>
            </a:r>
            <a:r>
              <a:rPr lang="en-US" sz="2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algorithm, incorporating a heuristic to prioritize paths that seem more promising.</a:t>
            </a:r>
          </a:p>
          <a:p>
            <a:pPr>
              <a:lnSpc>
                <a:spcPts val="350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combines the cost to reach a node and an estimate of the cost to the goal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681" y="2927070"/>
            <a:ext cx="4348163" cy="317842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BF33C-31E5-3463-0AAB-B95E3A49F880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ABA3A69-C5E5-C17A-5862-A0FD972F35C1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4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B1D78B3-6A12-834D-E7B2-2D87A3077594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430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/>
          <p:cNvSpPr txBox="1"/>
          <p:nvPr/>
        </p:nvSpPr>
        <p:spPr>
          <a:xfrm>
            <a:off x="381391" y="351234"/>
            <a:ext cx="11429218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Obstacle Detection and Planning</a:t>
            </a:r>
          </a:p>
          <a:p>
            <a:pPr marL="342900" indent="-342900" algn="l">
              <a:lnSpc>
                <a:spcPts val="3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Obstacles move or change over time </a:t>
            </a:r>
          </a:p>
          <a:p>
            <a:pPr marL="342900" indent="-342900" algn="l">
              <a:lnSpc>
                <a:spcPts val="32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planning methods like </a:t>
            </a:r>
            <a:r>
              <a:rPr lang="en-US" sz="2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Dijkstra’s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insufficient because the environment constantly evolve. We incorporated Reinforcement Learning (RL) methods.</a:t>
            </a:r>
          </a:p>
          <a:p>
            <a:pPr algn="l">
              <a:lnSpc>
                <a:spcPts val="320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0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0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0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0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0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0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0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RL for Dynamic Obstacles?</a:t>
            </a:r>
          </a:p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RL algorithms can adapt to changes in the environment by continuously learning from interactions.</a:t>
            </a:r>
          </a:p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do not rely on </a:t>
            </a:r>
            <a:r>
              <a:rPr lang="en-US" sz="22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precomputed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maps, making them ideal for real-time scenarios.</a:t>
            </a:r>
          </a:p>
        </p:txBody>
      </p:sp>
      <p:pic>
        <p:nvPicPr>
          <p:cNvPr id="5" name="Picture 2" descr="Sensors 23 03521 g001 5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954" y="2108958"/>
            <a:ext cx="6227930" cy="337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B32B5E6-CF77-456F-120B-C1F4D4F7CDBA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A510FE-F041-460F-4960-232B238D0E7C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40D0F8B-602A-924A-7ADE-DAF655A44BF6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221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08" y="639742"/>
            <a:ext cx="5021412" cy="2183670"/>
          </a:xfrm>
          <a:prstGeom prst="rect">
            <a:avLst/>
          </a:prstGeom>
        </p:spPr>
      </p:pic>
      <p:pic>
        <p:nvPicPr>
          <p:cNvPr id="3" name="Picture 2" descr="Reinforcement Learning: A Review of Historic, Modern, and Historic  Developments … | Chris Mahoney | Towards Data Scienc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0" r="25774"/>
          <a:stretch/>
        </p:blipFill>
        <p:spPr bwMode="auto">
          <a:xfrm>
            <a:off x="308308" y="2975640"/>
            <a:ext cx="3782429" cy="362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A2EB01-7011-7DE7-E741-90A92E565EEB}"/>
              </a:ext>
            </a:extLst>
          </p:cNvPr>
          <p:cNvSpPr>
            <a:spLocks noGrp="1"/>
          </p:cNvSpPr>
          <p:nvPr/>
        </p:nvSpPr>
        <p:spPr>
          <a:xfrm>
            <a:off x="5787692" y="2248479"/>
            <a:ext cx="6231084" cy="43524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Static path planning fails when obstacles move or change over time.</a:t>
            </a:r>
          </a:p>
          <a:p>
            <a:pPr marL="0" indent="0">
              <a:buNone/>
            </a:pPr>
            <a:r>
              <a:rPr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algorithms require re-computation, leading to inefficiencies.</a:t>
            </a:r>
          </a:p>
          <a:p>
            <a:pPr marL="0" indent="0">
              <a:buNone/>
            </a:pPr>
            <a:r>
              <a:rPr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adaptability is crucial for autonomous systems.</a:t>
            </a:r>
          </a:p>
          <a:p>
            <a:pPr marL="0" indent="0">
              <a:buNone/>
            </a:pPr>
            <a:r>
              <a:rPr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Reinforcement Learning provides a solution by continuously learning from interactions.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D21F13-96CE-2E19-500E-23C227841E78}"/>
              </a:ext>
            </a:extLst>
          </p:cNvPr>
          <p:cNvSpPr txBox="1"/>
          <p:nvPr/>
        </p:nvSpPr>
        <p:spPr>
          <a:xfrm>
            <a:off x="5787692" y="302212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Dynamic Environments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A1BB789-036A-E4F5-B5A7-CE8549850E81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592CAA0-71A7-DCCD-8BC2-4E6755478084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6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06DE9-BB1E-35EB-1CFE-AAC0E8CA2F5C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579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very basics of Reinforcement Learning | by Aneek Das | Becoming Human:  Artificial Intelligence Magaz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83" y="1806742"/>
            <a:ext cx="6686550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1E5B8E-D944-EB9E-090C-A282495CD701}"/>
              </a:ext>
            </a:extLst>
          </p:cNvPr>
          <p:cNvSpPr>
            <a:spLocks noGrp="1"/>
          </p:cNvSpPr>
          <p:nvPr/>
        </p:nvSpPr>
        <p:spPr>
          <a:xfrm>
            <a:off x="2085473" y="206542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ts val="5800"/>
              </a:lnSpc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Reinforcement Learning (RL)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3D4D0-543B-F074-727B-3B43EB0D9145}"/>
              </a:ext>
            </a:extLst>
          </p:cNvPr>
          <p:cNvSpPr txBox="1"/>
          <p:nvPr/>
        </p:nvSpPr>
        <p:spPr>
          <a:xfrm>
            <a:off x="7571873" y="2139462"/>
            <a:ext cx="430914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RL enables an agent (robot) to learn by interacting with the environment.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rewards and penalties to improve decision-making.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Does not require predefined maps, making it suitable for real-time navigation.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6E92A-C365-9F7E-09B2-367F3C40197F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293D51-842E-A092-91DD-A2418A3DDD42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7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8EDF293-C9D2-1F86-6829-5C04AC921B42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220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88" y="150311"/>
            <a:ext cx="7260507" cy="6192252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105A5DA-B8A1-DB85-9C0F-61215AB8477C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2D6F24B-898B-23ED-1744-8673E7EC20E3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8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9B49B-9CEB-6ACB-30E4-F3FD8ACBB49C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7B781-F006-DF30-CD57-227935485C4C}"/>
              </a:ext>
            </a:extLst>
          </p:cNvPr>
          <p:cNvSpPr txBox="1"/>
          <p:nvPr/>
        </p:nvSpPr>
        <p:spPr>
          <a:xfrm>
            <a:off x="4627790" y="515437"/>
            <a:ext cx="77928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</a:p>
        </p:txBody>
      </p:sp>
    </p:spTree>
    <p:extLst>
      <p:ext uri="{BB962C8B-B14F-4D97-AF65-F5344CB8AC3E}">
        <p14:creationId xmlns:p14="http://schemas.microsoft.com/office/powerpoint/2010/main" val="341505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3411" r="10251" b="3267"/>
          <a:stretch/>
        </p:blipFill>
        <p:spPr>
          <a:xfrm>
            <a:off x="135008" y="739630"/>
            <a:ext cx="7802609" cy="3437121"/>
          </a:xfrm>
          <a:prstGeom prst="rect">
            <a:avLst/>
          </a:prstGeom>
        </p:spPr>
      </p:pic>
      <p:pic>
        <p:nvPicPr>
          <p:cNvPr id="6146" name="Picture 2" descr="Figure 2 from An Improved Sarsa( $\lambda$ ) Reinforcement Learning  Algorithm for Wireless Communication Systems | Semantic Schola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71"/>
          <a:stretch/>
        </p:blipFill>
        <p:spPr bwMode="auto">
          <a:xfrm>
            <a:off x="8155688" y="1098132"/>
            <a:ext cx="3199366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100262" y="92380"/>
            <a:ext cx="41615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Q-Learning Algorithm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AF3C7-CD5B-2BDD-FA45-DC133116EB59}"/>
              </a:ext>
            </a:extLst>
          </p:cNvPr>
          <p:cNvSpPr txBox="1"/>
          <p:nvPr/>
        </p:nvSpPr>
        <p:spPr>
          <a:xfrm>
            <a:off x="568099" y="4239226"/>
            <a:ext cx="110558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Off-policy RL algorithm that updates action-value estimates based on maximum future reward.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the formula: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Q(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← Q(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β [r + γ max Q(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s',a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 - Q(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Finds an optimal policy for robot navigation through trial and error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3F28BCD-C469-512D-8EA5-3EEA2584EE7E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75D96CD-498D-9097-8432-5E32456EFCEF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9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6C6D8B9-CBE1-6380-AFF9-0A1E444E4CAE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994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Learn Reinforcement Learning (3) - DQN improvement and Deep SARSA ·  greentec's blo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72"/>
          <a:stretch/>
        </p:blipFill>
        <p:spPr bwMode="auto">
          <a:xfrm>
            <a:off x="435884" y="688430"/>
            <a:ext cx="7427913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672605" y="351545"/>
            <a:ext cx="65193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Q-Learning Algorithm (DQN)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A8181-E092-4E97-B776-1485FEC47C77}"/>
              </a:ext>
            </a:extLst>
          </p:cNvPr>
          <p:cNvSpPr txBox="1"/>
          <p:nvPr/>
        </p:nvSpPr>
        <p:spPr>
          <a:xfrm>
            <a:off x="1122948" y="3397912"/>
            <a:ext cx="1026694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Extends Q-learning using deep neural networks for function approximation.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Addresses the challenge of large state spaces and continuous environments.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experience replay and target networks for stable learning.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Outperforms SARSA and Q-learning in complex environments by reducing training time.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742B44-9EC0-1FAF-ACF2-12E658148DCD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8B5AF1B-14F3-3C6E-92B4-C5A5CE724C48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10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BE8E038-D5A8-401D-0055-752E2C453069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904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545" y="2357186"/>
            <a:ext cx="7919824" cy="26022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66297" y="5494775"/>
            <a:ext cx="67246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of sizes 30 × 30 (in (a)) and 40 × 40 (in (b)), respectively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10376" y="345893"/>
            <a:ext cx="94339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State-Action-Reward-State-Action (SARSA)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1C70B8-0D72-C9E5-D53C-ABB57540DDA6}"/>
              </a:ext>
            </a:extLst>
          </p:cNvPr>
          <p:cNvSpPr>
            <a:spLocks noGrp="1"/>
          </p:cNvSpPr>
          <p:nvPr/>
        </p:nvSpPr>
        <p:spPr>
          <a:xfrm>
            <a:off x="401053" y="1615143"/>
            <a:ext cx="43794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On-policy RL algorithm that updates action-value estimates based on the policy currently being followed.</a:t>
            </a:r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Uses the formula: </a:t>
            </a:r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Q(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← Q(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β [r + γ Q(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s',a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 - Q(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)]</a:t>
            </a:r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Balances exploration and exploitation more consistently.</a:t>
            </a:r>
          </a:p>
          <a:p>
            <a:pPr marL="0" indent="0">
              <a:buNone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Adapts to policy changes during learning, making it more stable in certain scenarios.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3DDA97-69A6-6189-73B8-8DCFE14596EA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3FC720E-4EE1-D0E8-12FA-5F1473ADC8DE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11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75CD4D0-45D4-E064-7747-E5BA46A73E56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990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969" y="101169"/>
            <a:ext cx="8645553" cy="665566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8120" y="3429000"/>
            <a:ext cx="27482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Exemplifying the path finding by Q-learning, SARSA, and DQN for grid of sizes 30×30 (in (a)) and 40×40 (in (b)), respectively.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186716-687A-54A3-4CBE-670554E74E70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AE6A2-0C21-3E76-5A1B-22F523512D98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12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4056711-761A-4DBB-113D-69C2A91D712D}"/>
              </a:ext>
            </a:extLst>
          </p:cNvPr>
          <p:cNvSpPr>
            <a:spLocks noGrp="1"/>
          </p:cNvSpPr>
          <p:nvPr/>
        </p:nvSpPr>
        <p:spPr>
          <a:xfrm>
            <a:off x="338118" y="6342563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27B245-E50D-128B-9B08-7E437F3F85EF}"/>
              </a:ext>
            </a:extLst>
          </p:cNvPr>
          <p:cNvSpPr txBox="1"/>
          <p:nvPr/>
        </p:nvSpPr>
        <p:spPr>
          <a:xfrm>
            <a:off x="118406" y="496312"/>
            <a:ext cx="33615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</a:p>
        </p:txBody>
      </p:sp>
    </p:spTree>
    <p:extLst>
      <p:ext uri="{BB962C8B-B14F-4D97-AF65-F5344CB8AC3E}">
        <p14:creationId xmlns:p14="http://schemas.microsoft.com/office/powerpoint/2010/main" val="503806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03" y="295020"/>
            <a:ext cx="6015789" cy="623010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65725" y="3994485"/>
            <a:ext cx="41674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the accumulated rewards with respect to the number of episodes (#Episodes) for (a) SARSA and (b) DQN.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0D0DE58-9281-B611-A169-331A22D3542B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AB297-CA9D-A17A-038B-113569ACBA82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13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CA190F7-C55A-0EA9-6590-B200FDEA6889}"/>
              </a:ext>
            </a:extLst>
          </p:cNvPr>
          <p:cNvSpPr>
            <a:spLocks noGrp="1"/>
          </p:cNvSpPr>
          <p:nvPr/>
        </p:nvSpPr>
        <p:spPr>
          <a:xfrm>
            <a:off x="33811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FAB12D-BFDB-E125-F3FF-9769F1D2C85B}"/>
              </a:ext>
            </a:extLst>
          </p:cNvPr>
          <p:cNvSpPr txBox="1"/>
          <p:nvPr/>
        </p:nvSpPr>
        <p:spPr>
          <a:xfrm>
            <a:off x="7434524" y="378025"/>
            <a:ext cx="41674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(contd.)</a:t>
            </a:r>
          </a:p>
        </p:txBody>
      </p:sp>
    </p:spTree>
    <p:extLst>
      <p:ext uri="{BB962C8B-B14F-4D97-AF65-F5344CB8AC3E}">
        <p14:creationId xmlns:p14="http://schemas.microsoft.com/office/powerpoint/2010/main" val="4192138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334F78-999B-BD43-0C91-CD5B4660176F}"/>
              </a:ext>
            </a:extLst>
          </p:cNvPr>
          <p:cNvSpPr txBox="1"/>
          <p:nvPr/>
        </p:nvSpPr>
        <p:spPr>
          <a:xfrm>
            <a:off x="1251283" y="2555846"/>
            <a:ext cx="866273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RL-based path planning surpasses traditional algorithms in dynamic scenarios.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DQN proves to be the most effective method, offering faster and more efficient navigation.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study highlights the potential of RL in real-time robotic applications.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89F32-DFA9-F7AC-DF86-1AF5D0B6C0CE}"/>
              </a:ext>
            </a:extLst>
          </p:cNvPr>
          <p:cNvSpPr txBox="1"/>
          <p:nvPr/>
        </p:nvSpPr>
        <p:spPr>
          <a:xfrm>
            <a:off x="609600" y="11787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22D4A3-7B56-C166-60C2-048AB6129E20}"/>
              </a:ext>
            </a:extLst>
          </p:cNvPr>
          <p:cNvSpPr>
            <a:spLocks noGrp="1"/>
          </p:cNvSpPr>
          <p:nvPr/>
        </p:nvSpPr>
        <p:spPr>
          <a:xfrm>
            <a:off x="528710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IEMENTech 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495E19F-110D-FA52-7B93-AD3CF830948C}"/>
              </a:ext>
            </a:extLst>
          </p:cNvPr>
          <p:cNvSpPr>
            <a:spLocks noGrp="1"/>
          </p:cNvSpPr>
          <p:nvPr/>
        </p:nvSpPr>
        <p:spPr>
          <a:xfrm>
            <a:off x="10236098" y="6342564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14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F5495BB-D9AC-7F9E-A6E6-5B247AF00057}"/>
              </a:ext>
            </a:extLst>
          </p:cNvPr>
          <p:cNvSpPr>
            <a:spLocks noGrp="1"/>
          </p:cNvSpPr>
          <p:nvPr/>
        </p:nvSpPr>
        <p:spPr>
          <a:xfrm>
            <a:off x="338118" y="6218419"/>
            <a:ext cx="1617784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defPPr lvl="0">
              <a:defRPr lang="en-US"/>
            </a:defPPr>
            <a:lvl1pPr marL="0" lvl="0" algn="l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chemeClr val="tx1"/>
                </a:solidFill>
                <a:latin typeface="Cambria" pitchFamily="18" charset="0"/>
              </a:rPr>
              <a:t>02/02/2025</a:t>
            </a:r>
            <a:endParaRPr lang="en-IN" sz="1400" b="1" dirty="0">
              <a:solidFill>
                <a:schemeClr val="tx1"/>
              </a:solidFill>
              <a:latin typeface="Cambria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A8837A-4158-0C65-8CA9-9BEF2A7421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034"/>
          <a:stretch/>
        </p:blipFill>
        <p:spPr>
          <a:xfrm>
            <a:off x="69436" y="77019"/>
            <a:ext cx="1080328" cy="991361"/>
          </a:xfrm>
          <a:prstGeom prst="rect">
            <a:avLst/>
          </a:prstGeom>
        </p:spPr>
      </p:pic>
      <p:pic>
        <p:nvPicPr>
          <p:cNvPr id="4" name="Picture 2" descr="IEEE Kolkata Section">
            <a:extLst>
              <a:ext uri="{FF2B5EF4-FFF2-40B4-BE49-F238E27FC236}">
                <a16:creationId xmlns:a16="http://schemas.microsoft.com/office/drawing/2014/main" id="{202217C6-B00B-6102-557D-58A9FEDA1C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34" r="11709" b="27503"/>
          <a:stretch/>
        </p:blipFill>
        <p:spPr bwMode="auto">
          <a:xfrm>
            <a:off x="10273180" y="77019"/>
            <a:ext cx="1918820" cy="970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iem.edu.in/app/themes/iem-group-wp-theme/resources/logo.png">
            <a:extLst>
              <a:ext uri="{FF2B5EF4-FFF2-40B4-BE49-F238E27FC236}">
                <a16:creationId xmlns:a16="http://schemas.microsoft.com/office/drawing/2014/main" id="{BC56F03E-7D6A-EE91-10B0-1F8174C72D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1" r="5804"/>
          <a:stretch/>
        </p:blipFill>
        <p:spPr bwMode="auto">
          <a:xfrm>
            <a:off x="1239844" y="77019"/>
            <a:ext cx="1154466" cy="97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https://uem.edu.in/app/themes/iem-group-wp-theme/resources/logo.png">
            <a:extLst>
              <a:ext uri="{FF2B5EF4-FFF2-40B4-BE49-F238E27FC236}">
                <a16:creationId xmlns:a16="http://schemas.microsoft.com/office/drawing/2014/main" id="{E358F724-A7C8-4C11-60B6-2512E54E74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" r="3433"/>
          <a:stretch/>
        </p:blipFill>
        <p:spPr bwMode="auto">
          <a:xfrm>
            <a:off x="9073662" y="149049"/>
            <a:ext cx="1199518" cy="80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DAB9057-54A7-0352-DAC4-747188172D2C}"/>
              </a:ext>
            </a:extLst>
          </p:cNvPr>
          <p:cNvSpPr/>
          <p:nvPr/>
        </p:nvSpPr>
        <p:spPr>
          <a:xfrm>
            <a:off x="3400493" y="135969"/>
            <a:ext cx="540859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002060"/>
                </a:solidFill>
                <a:latin typeface="Arial Black" panose="020B0A04020102020204" pitchFamily="34" charset="0"/>
              </a:rPr>
              <a:t>IEMENTech 2025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CE012B-9E0E-AE11-3245-60DC675827FA}"/>
              </a:ext>
            </a:extLst>
          </p:cNvPr>
          <p:cNvSpPr/>
          <p:nvPr/>
        </p:nvSpPr>
        <p:spPr>
          <a:xfrm>
            <a:off x="5048278" y="757356"/>
            <a:ext cx="29040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i="1" dirty="0">
                <a:latin typeface="Calisto MT" panose="02040603050505030304" pitchFamily="18" charset="0"/>
              </a:rPr>
              <a:t>31</a:t>
            </a:r>
            <a:r>
              <a:rPr lang="en-US" sz="1600" b="1" i="1" baseline="30000" dirty="0">
                <a:latin typeface="Calisto MT" panose="02040603050505030304" pitchFamily="18" charset="0"/>
              </a:rPr>
              <a:t>st</a:t>
            </a:r>
            <a:r>
              <a:rPr lang="en-US" sz="1600" b="1" i="1" dirty="0">
                <a:latin typeface="Calisto MT" panose="02040603050505030304" pitchFamily="18" charset="0"/>
              </a:rPr>
              <a:t> January – 2</a:t>
            </a:r>
            <a:r>
              <a:rPr lang="en-US" sz="1600" b="1" i="1" baseline="30000" dirty="0">
                <a:latin typeface="Calisto MT" panose="02040603050505030304" pitchFamily="18" charset="0"/>
              </a:rPr>
              <a:t>nd</a:t>
            </a:r>
            <a:r>
              <a:rPr lang="en-US" sz="1600" b="1" i="1" dirty="0">
                <a:latin typeface="Calisto MT" panose="02040603050505030304" pitchFamily="18" charset="0"/>
              </a:rPr>
              <a:t> February 2025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720343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731</Words>
  <Application>Microsoft Office PowerPoint</Application>
  <PresentationFormat>Widescreen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Calisto MT</vt:lpstr>
      <vt:lpstr>Cambria</vt:lpstr>
      <vt:lpstr>Times New Roman</vt:lpstr>
      <vt:lpstr>Times New Roman Bold</vt:lpstr>
      <vt:lpstr>Office Theme</vt:lpstr>
      <vt:lpstr>Exploring Reinforcement Learning in Autonomous Robot Path  Planning and Obstacle Navigation</vt:lpstr>
      <vt:lpstr>Importance &amp; Scope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AIML</dc:creator>
  <cp:lastModifiedBy>Uday Sankar Mukherjee</cp:lastModifiedBy>
  <cp:revision>14</cp:revision>
  <dcterms:created xsi:type="dcterms:W3CDTF">2025-01-29T06:51:43Z</dcterms:created>
  <dcterms:modified xsi:type="dcterms:W3CDTF">2025-02-02T04:10:20Z</dcterms:modified>
</cp:coreProperties>
</file>